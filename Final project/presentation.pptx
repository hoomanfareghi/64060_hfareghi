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9"/>
  </p:notesMasterIdLst>
  <p:handoutMasterIdLst>
    <p:handoutMasterId r:id="rId10"/>
  </p:handoutMasterIdLst>
  <p:sldIdLst>
    <p:sldId id="1518" r:id="rId5"/>
    <p:sldId id="1514" r:id="rId6"/>
    <p:sldId id="1516" r:id="rId7"/>
    <p:sldId id="15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768" autoAdjust="0"/>
  </p:normalViewPr>
  <p:slideViewPr>
    <p:cSldViewPr snapToGrid="0">
      <p:cViewPr varScale="1">
        <p:scale>
          <a:sx n="69" d="100"/>
          <a:sy n="69" d="100"/>
        </p:scale>
        <p:origin x="1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9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08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E88D-865F-BBEC-44D3-FEF74D622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590693"/>
            <a:ext cx="11460480" cy="277665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Salary Prediction for HR Decision Support</a:t>
            </a:r>
            <a:br>
              <a:rPr lang="en-US" sz="2400" dirty="0"/>
            </a:br>
            <a:r>
              <a:rPr lang="en-US" sz="2400" dirty="0"/>
              <a:t>Hooman Fareghi</a:t>
            </a:r>
            <a:br>
              <a:rPr lang="en-US" sz="2400" dirty="0"/>
            </a:br>
            <a:r>
              <a:rPr lang="en-US" sz="2400" dirty="0"/>
              <a:t>Fundamentals of Machine Learning</a:t>
            </a:r>
            <a:br>
              <a:rPr lang="en-US" sz="2400" dirty="0"/>
            </a:br>
            <a:r>
              <a:rPr lang="en-US" sz="2400" dirty="0"/>
              <a:t>April 2026</a:t>
            </a:r>
          </a:p>
        </p:txBody>
      </p:sp>
      <p:pic>
        <p:nvPicPr>
          <p:cNvPr id="8" name="Picture Placeholder 7" descr="The image shows a single green sprout growing from a stack of coins on a blue surface.&#10;&#10;AI-generated content may be incorrect.">
            <a:extLst>
              <a:ext uri="{FF2B5EF4-FFF2-40B4-BE49-F238E27FC236}">
                <a16:creationId xmlns:a16="http://schemas.microsoft.com/office/drawing/2014/main" id="{FB005F5C-22FF-BB29-2E0C-8DC3BB7F22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86" b="30786"/>
          <a:stretch>
            <a:fillRect/>
          </a:stretch>
        </p:blipFill>
        <p:spPr>
          <a:xfrm>
            <a:off x="2219093" y="0"/>
            <a:ext cx="7515922" cy="3713356"/>
          </a:xfrm>
          <a:prstGeom prst="rect">
            <a:avLst/>
          </a:pr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91965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719" y="690664"/>
            <a:ext cx="9714430" cy="1183676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dirty="0"/>
              <a:t>Problem &amp; Dataset</a:t>
            </a:r>
            <a:br>
              <a:rPr lang="en-US" sz="4000" dirty="0"/>
            </a:br>
            <a:r>
              <a:rPr lang="en-US" sz="2000" dirty="0"/>
              <a:t>(Salary Prediction for HR Decision Support)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719" y="2078621"/>
            <a:ext cx="9091860" cy="3512152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Real-world dataset (global jobs &amp; salaries) </a:t>
            </a:r>
          </a:p>
          <a:p>
            <a:pPr>
              <a:lnSpc>
                <a:spcPct val="3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experience, education, job title, location </a:t>
            </a:r>
          </a:p>
          <a:p>
            <a:pPr>
              <a:lnSpc>
                <a:spcPct val="3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Goal: predict salary </a:t>
            </a:r>
          </a:p>
        </p:txBody>
      </p:sp>
      <p:pic>
        <p:nvPicPr>
          <p:cNvPr id="7" name="Slide 1">
            <a:hlinkClick r:id="" action="ppaction://media"/>
            <a:extLst>
              <a:ext uri="{FF2B5EF4-FFF2-40B4-BE49-F238E27FC236}">
                <a16:creationId xmlns:a16="http://schemas.microsoft.com/office/drawing/2014/main" id="{99D18FCD-CFB4-3ED2-3DBB-15F8651D6B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76332" y="606695"/>
            <a:ext cx="1679305" cy="16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F756-D8F1-9ECE-6622-3DEB0433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5" y="907302"/>
            <a:ext cx="9850617" cy="765855"/>
          </a:xfrm>
        </p:spPr>
        <p:txBody>
          <a:bodyPr/>
          <a:lstStyle/>
          <a:p>
            <a:r>
              <a:rPr lang="en-US" sz="4000" dirty="0"/>
              <a:t>Approach</a:t>
            </a:r>
          </a:p>
        </p:txBody>
      </p:sp>
      <p:pic>
        <p:nvPicPr>
          <p:cNvPr id="9" name="Slide 2">
            <a:hlinkClick r:id="" action="ppaction://media"/>
            <a:extLst>
              <a:ext uri="{FF2B5EF4-FFF2-40B4-BE49-F238E27FC236}">
                <a16:creationId xmlns:a16="http://schemas.microsoft.com/office/drawing/2014/main" id="{37C51835-7095-D081-E777-D766E4F2C4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72676" y="511005"/>
            <a:ext cx="2115431" cy="211543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C6469B9-FC1F-0656-1206-FE8540C72CCA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1481138" y="1569150"/>
            <a:ext cx="6678431" cy="3486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machine learning models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regression, KNN, and decision tree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the best-performing model </a:t>
            </a:r>
          </a:p>
        </p:txBody>
      </p:sp>
    </p:spTree>
    <p:extLst>
      <p:ext uri="{BB962C8B-B14F-4D97-AF65-F5344CB8AC3E}">
        <p14:creationId xmlns:p14="http://schemas.microsoft.com/office/powerpoint/2010/main" val="10202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4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658F-6849-EA17-AF19-288C282A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9986804" cy="1386965"/>
          </a:xfrm>
        </p:spPr>
        <p:txBody>
          <a:bodyPr/>
          <a:lstStyle/>
          <a:p>
            <a:r>
              <a:rPr lang="en-US" sz="4000" dirty="0"/>
              <a:t>Results &amp;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A872-FF29-66A7-BE47-F689A0FC11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51207" y="1600783"/>
            <a:ext cx="9986804" cy="486692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Experience strongly affects salary </a:t>
            </a:r>
          </a:p>
          <a:p>
            <a:pPr>
              <a:lnSpc>
                <a:spcPct val="2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~ $2,700 increase per year of experience </a:t>
            </a:r>
          </a:p>
          <a:p>
            <a:pPr>
              <a:lnSpc>
                <a:spcPct val="2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Education impacts salary level </a:t>
            </a:r>
          </a:p>
          <a:p>
            <a:pPr>
              <a:lnSpc>
                <a:spcPct val="2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Regression = best model </a:t>
            </a:r>
          </a:p>
          <a:p>
            <a:pPr>
              <a:lnSpc>
                <a:spcPct val="2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Can support salary decisions 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Model supports data-driven salary decisions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Slide 3">
            <a:hlinkClick r:id="" action="ppaction://media"/>
            <a:extLst>
              <a:ext uri="{FF2B5EF4-FFF2-40B4-BE49-F238E27FC236}">
                <a16:creationId xmlns:a16="http://schemas.microsoft.com/office/drawing/2014/main" id="{0D5A9FF7-FDD1-FAC4-C2A8-32F2907675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79330" y="766679"/>
            <a:ext cx="1653135" cy="16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4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5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{5A33501E-FABC-4342-B744-E283E2535388}f4c2fa09-5552-4190-875c-1979579583e2-TFc553d604-a3b6-4c52-b2ed-3a769335c0fd_win32</Template>
  <TotalTime>89</TotalTime>
  <Words>102</Words>
  <Application>Microsoft Office PowerPoint</Application>
  <PresentationFormat>Widescreen</PresentationFormat>
  <Paragraphs>20</Paragraphs>
  <Slides>4</Slides>
  <Notes>3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Lora</vt:lpstr>
      <vt:lpstr>Playfair Display Black</vt:lpstr>
      <vt:lpstr>Poppins Light</vt:lpstr>
      <vt:lpstr>Gradient Circle</vt:lpstr>
      <vt:lpstr>Salary Prediction for HR Decision Support Hooman Fareghi Fundamentals of Machine Learning April 2026</vt:lpstr>
      <vt:lpstr>Problem &amp; Dataset (Salary Prediction for HR Decision Support)</vt:lpstr>
      <vt:lpstr>Approach</vt:lpstr>
      <vt:lpstr>Results &amp;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Fareghi, Hooman</dc:creator>
  <cp:lastModifiedBy>Fareghi, Hooman</cp:lastModifiedBy>
  <cp:revision>5</cp:revision>
  <dcterms:created xsi:type="dcterms:W3CDTF">2026-04-26T21:22:30Z</dcterms:created>
  <dcterms:modified xsi:type="dcterms:W3CDTF">2026-04-28T01:48:07Z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